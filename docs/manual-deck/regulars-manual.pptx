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image" Target="../media/image-31-6.png"/><Relationship Id="rId7" Type="http://schemas.openxmlformats.org/officeDocument/2006/relationships/image" Target="../media/image-3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0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-1463040"/>
            <a:ext cx="4754880" cy="4754880"/>
          </a:xfrm>
          <a:prstGeom prst="ellipse">
            <a:avLst/>
          </a:prstGeom>
          <a:solidFill>
            <a:srgbClr val="1B2C50"/>
          </a:solidFill>
          <a:ln/>
        </p:spPr>
      </p:sp>
      <p:sp>
        <p:nvSpPr>
          <p:cNvPr id="3" name="Shape 1"/>
          <p:cNvSpPr/>
          <p:nvPr/>
        </p:nvSpPr>
        <p:spPr>
          <a:xfrm>
            <a:off x="10271455" y="3291840"/>
            <a:ext cx="2926080" cy="2926080"/>
          </a:xfrm>
          <a:prstGeom prst="ellipse">
            <a:avLst/>
          </a:prstGeom>
          <a:solidFill>
            <a:srgbClr val="FF5A4E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3317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Software Manual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033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 management software that tells you when your regulars stop being regular.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1605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screen, every action, every retention signal — in one reference.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SOFTWARE 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jobs, one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454298" cy="4206240"/>
          </a:xfrm>
          <a:prstGeom prst="roundRect">
            <a:avLst>
              <a:gd name="adj" fmla="val 2647"/>
            </a:avLst>
          </a:prstGeom>
          <a:solidFill>
            <a:srgbClr val="F2F4F8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94560"/>
            <a:ext cx="685800" cy="685800"/>
          </a:xfrm>
          <a:prstGeom prst="ellipse">
            <a:avLst/>
          </a:prstGeom>
          <a:solidFill>
            <a:srgbClr val="1220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359152"/>
            <a:ext cx="356616" cy="356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3063240"/>
            <a:ext cx="28142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the front desk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840480"/>
            <a:ext cx="281421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Members, leads, renewals, payments, invoices, the shop counter, and attendance — the daily work of the desk, in one place.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68698" y="1874520"/>
            <a:ext cx="3454298" cy="4206240"/>
          </a:xfrm>
          <a:prstGeom prst="roundRect">
            <a:avLst>
              <a:gd name="adj" fmla="val 2647"/>
            </a:avLst>
          </a:prstGeom>
          <a:solidFill>
            <a:srgbClr val="F2F4F8"/>
          </a:solidFill>
          <a:ln/>
        </p:spPr>
      </p:sp>
      <p:sp>
        <p:nvSpPr>
          <p:cNvPr id="10" name="Shape 7"/>
          <p:cNvSpPr/>
          <p:nvPr/>
        </p:nvSpPr>
        <p:spPr>
          <a:xfrm>
            <a:off x="4688738" y="2194560"/>
            <a:ext cx="685800" cy="685800"/>
          </a:xfrm>
          <a:prstGeom prst="ellipse">
            <a:avLst/>
          </a:prstGeom>
          <a:solidFill>
            <a:srgbClr val="12203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3330" y="235915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88738" y="3063240"/>
            <a:ext cx="28142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for churn before it happens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688738" y="3840480"/>
            <a:ext cx="281421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alerts and six counter prompts, all arithmetic on real visit records — no scores, no predictions, every flag traceable back to actual data.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88757" y="1874520"/>
            <a:ext cx="3454298" cy="4206240"/>
          </a:xfrm>
          <a:prstGeom prst="roundRect">
            <a:avLst>
              <a:gd name="adj" fmla="val 2647"/>
            </a:avLst>
          </a:prstGeom>
          <a:solidFill>
            <a:srgbClr val="F2F4F8"/>
          </a:solidFill>
          <a:ln/>
        </p:spPr>
      </p:sp>
      <p:sp>
        <p:nvSpPr>
          <p:cNvPr id="15" name="Shape 11"/>
          <p:cNvSpPr/>
          <p:nvPr/>
        </p:nvSpPr>
        <p:spPr>
          <a:xfrm>
            <a:off x="8508797" y="2194560"/>
            <a:ext cx="685800" cy="685800"/>
          </a:xfrm>
          <a:prstGeom prst="ellipse">
            <a:avLst/>
          </a:prstGeom>
          <a:solidFill>
            <a:srgbClr val="12203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3389" y="2359152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508797" y="3063240"/>
            <a:ext cx="28142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more than one location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508797" y="3840480"/>
            <a:ext cx="281421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Branches, staff and trainer transfers, chain-wide stock and revenue views — for gyms that have outgrown a single site.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20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606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IN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49040"/>
            <a:ext cx="9265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 door, and the first screen after it.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IN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 door — works in any browser on laptop, tablet or phone. Nothing to install.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0820095" y="457200"/>
            <a:ext cx="822960" cy="822960"/>
          </a:xfrm>
          <a:prstGeom prst="ellipse">
            <a:avLst/>
          </a:prstGeom>
          <a:solidFill>
            <a:srgbClr val="1220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7606" y="654710"/>
            <a:ext cx="427939" cy="42793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41248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screen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number, password, and a Login button.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78728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571336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kinds of account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571336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— staff, plans, pricing, reports.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members, check-ins, payments, shop, At Risk.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IN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IN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screen after login. It answers “what needs attention today.”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0820095" y="457200"/>
            <a:ext cx="822960" cy="822960"/>
          </a:xfrm>
          <a:prstGeom prst="ellipse">
            <a:avLst/>
          </a:prstGeom>
          <a:solidFill>
            <a:srgbClr val="1220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7606" y="654710"/>
            <a:ext cx="427939" cy="42793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74520"/>
            <a:ext cx="11094415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41248" y="2112264"/>
            <a:ext cx="1050919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screen, top to bottom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2496312"/>
            <a:ext cx="10509199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 and greeting, with sign-out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bar — inactive 30+ days, renewals due within 7 days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Overview — members, expiring soon, revenue this month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Renewals card — due today / this week / overdue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card — this month / today / pending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Actions — the way into every screen ahead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IN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20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606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DAY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49040"/>
            <a:ext cx="9265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screens staff and owners live in, day to day.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EVERY DAY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member of the gym. The screen used most.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0820095" y="457200"/>
            <a:ext cx="822960" cy="822960"/>
          </a:xfrm>
          <a:prstGeom prst="ellipse">
            <a:avLst/>
          </a:prstGeom>
          <a:solidFill>
            <a:srgbClr val="1220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7606" y="654710"/>
            <a:ext cx="427939" cy="42793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41248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member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Add Member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2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name, phone, plan, start date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3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— expiry is worked out from the plan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78728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571336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member's page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571336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expiry, check-ins, payments, invoices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packages, feedback and recognition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purchases, wallet balance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history of every change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Renew, Freeze, Change plan, Transfer, Terminate — all recorded with date and who did it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Freeze: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90 days at a time, expiry extends day-for-day — return early and only the days actually frozen count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EVERY DAY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EVERY DAY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Leads (CRM)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Enquiries who are not members yet — five fixed stages, and never left without a next step.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0820095" y="457200"/>
            <a:ext cx="822960" cy="822960"/>
          </a:xfrm>
          <a:prstGeom prst="ellipse">
            <a:avLst/>
          </a:prstGeom>
          <a:solidFill>
            <a:srgbClr val="1220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7606" y="654710"/>
            <a:ext cx="427939" cy="42793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41248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— five stages, each with a default next step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Lead →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first contact, same day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Contacted →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trial, within 2 days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Scheduled →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they're coming, the day before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Completed →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counselling — sit down, discuss plans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 / Lost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 ends here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78728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571336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screen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571336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board, one column per stage — drag a lead as it progresses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lead shows how long it's been in its current stage — stuck is visible, not hidden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queue, activity timeline, Assign to a staff member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— where leads come from, how they convert, why they're lost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Convert: one tap turns a lead into a member, nothing retyped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EVERY DAY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EVERY DAY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Renewals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whose membership is expiring, so nobody lapses unnoticed.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0820095" y="457200"/>
            <a:ext cx="822960" cy="822960"/>
          </a:xfrm>
          <a:prstGeom prst="ellipse">
            <a:avLst/>
          </a:prstGeom>
          <a:solidFill>
            <a:srgbClr val="1220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7606" y="654710"/>
            <a:ext cx="427939" cy="42793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41248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tabs: Due, and All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— everyone expiring soon, worst first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Lapsed — still worth a call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 in the last 30 days and not renewed; the window where somebody usually still comes back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— the full list, not just what's due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78728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571336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use it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571336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a member to renew, or to call first.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Renewing records the payment and moves the expiry date forward.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EVERY DAY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EVERY DAY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Risk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retention worklist — a worklist, not a report. Every row is a member and a phone call.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0820095" y="457200"/>
            <a:ext cx="822960" cy="822960"/>
          </a:xfrm>
          <a:prstGeom prst="ellipse">
            <a:avLst/>
          </a:prstGeom>
          <a:solidFill>
            <a:srgbClr val="1220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7606" y="654710"/>
            <a:ext cx="427939" cy="42793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41248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90 days — most churn happens here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Paid, never walked in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joined, zero check-ins — the easiest save on the list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Started, then stopped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 a few times, then went quiet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too rarely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~1.5 visits/week, never becomes a habit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78728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571336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has broken — the one early-warning signal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571336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coming just as often, but no longer at their usual time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signal fires when somebody stops coming — this fires while attendance is still normal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say “we miss you” — ask if their schedule changed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tick to mark handled — the note is recorded against your name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EVERY DAY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EVERY DAY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Retention Signal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alerts and six counter prompts — every one is arithmetic on your own records. No scores, no predictions.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0820095" y="457200"/>
            <a:ext cx="822960" cy="822960"/>
          </a:xfrm>
          <a:prstGeom prst="ellipse">
            <a:avLst/>
          </a:prstGeom>
          <a:solidFill>
            <a:srgbClr val="1220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7606" y="654710"/>
            <a:ext cx="427939" cy="427939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108960"/>
                <a:gridCol w="560801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Fires when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5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90 days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5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Paid, never walked 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5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3+ days since joining, zero check-ins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5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90 days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5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Coming too rarely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5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7+, under 1.5 visits a week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5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90 days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5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Started, then quiet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5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3+ visits, then 10 days silent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5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Established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5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Routine has broken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5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Kept a slot 8 weeks, now &lt;40% — while still visiting as often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5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Established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5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Inactive 1 / 2+ weeks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5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7–13 days light nudge; 14+ days strongest churn signal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5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5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Expiring / expired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C25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days out, expires today, or lapsed unrenewed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6235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counter — six prompts, one at a time: First ever visit · Back after a break · Needs attention · PT running out · Due a restock · Wallet low. Most check-ins show none.</a:t>
            </a:r>
            <a:endParaRPr lang="en-US" sz="125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EVERY DAY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EVERY DAY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taken, and the Collections tab — everything outstanding, worst first.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0820095" y="457200"/>
            <a:ext cx="822960" cy="822960"/>
          </a:xfrm>
          <a:prstGeom prst="ellipse">
            <a:avLst/>
          </a:prstGeom>
          <a:solidFill>
            <a:srgbClr val="1220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7606" y="654710"/>
            <a:ext cx="427939" cy="42793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41248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— grouped worst first, not oldest first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has chased these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overdue, no contact recorded since the due date — the group that justifies the tab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Chased, no outcome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somebody called, the money hasn't arrived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Promised to pay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by the date agreed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78728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571336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 payment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571336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payment, or open the member and collect there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2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amount and method — cash, UPI, card, bank transfer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3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— recorded against whoever is logged in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EVERY DAY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EVERY DAY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Money Leaks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the gym handed over without ever billing it. Not a debtors list — nobody wrote these down in the first place.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0820095" y="457200"/>
            <a:ext cx="822960" cy="822960"/>
          </a:xfrm>
          <a:prstGeom prst="ellipse">
            <a:avLst/>
          </a:prstGeom>
          <a:solidFill>
            <a:srgbClr val="1220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7606" y="654710"/>
            <a:ext cx="427939" cy="42793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41248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findings, valued honestly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given away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delivered beyond what the package paid for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after expiry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in after the membership ran out (frozen members excluded)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who never paid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membership, zero payment — not even raised as a due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with nothing against them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issued, but no payment row of any kind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Counters that disagree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package's used-session count doesn't match its completed bookings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78728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571336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finding, never an accusation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571336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Zero-valued where a figure can't be reached honestly — a drifted counter costs nothing by itself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total is a floor, not the total — some findings carry no figure at all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Collections — a due already being chased there is never double-counted here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this screen: Collections (Payments), Renewals due (Renewals), Low stock (Shop → Restock) — each already its own worklist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EVERY DAY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EVERY DAY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Wallet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credit against a member's account — an insert-only ledger, never a number anyone can just type over.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0820095" y="457200"/>
            <a:ext cx="822960" cy="822960"/>
          </a:xfrm>
          <a:prstGeom prst="ellipse">
            <a:avLst/>
          </a:prstGeom>
          <a:solidFill>
            <a:srgbClr val="1220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7606" y="654710"/>
            <a:ext cx="427939" cy="42793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41248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used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up a member's wallet, or spend it as part of a sale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is one ledger row — top-up, spend, refund, adjustment, or expiry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balance is always the sum of that ledger, so “why is my balance ₹300” always has an answer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78728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571336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shows up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571336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→ Sell: wallet sits alongside cash and UPI as a payment method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member's page: current balance and full transaction history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prompt: “Wallet low” appears at check-in once the balance drops under ₹200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EVERY DAY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EVERY DAY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 (POS)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tabs — Sell, Restock, Stock, Sales — the counter and everything behind it.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0820095" y="457200"/>
            <a:ext cx="822960" cy="822960"/>
          </a:xfrm>
          <a:prstGeom prst="ellipse">
            <a:avLst/>
          </a:prstGeom>
          <a:solidFill>
            <a:srgbClr val="1220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7606" y="654710"/>
            <a:ext cx="427939" cy="42793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41248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basket, optionally pick a member, take payment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Cash, UPI, or the member's wallet balance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payments come out as part of the sale — if the sale fails, nothing is deducted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78728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571336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Restock, Stock &amp; Sales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571336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Restock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low-stock queue itself: products at or below their reorder level, worst first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is driven by recorded movements, never typed in — a sale that would take it negative is refused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tab: full history, including refunds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the shop is doing”: days of cover per product — reorder now / dead / overstocked / healthy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EVERY DAY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EVERY DAY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Invoices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invoices with proper sequential numbering — two tabs: Invoices and Discounts.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0820095" y="457200"/>
            <a:ext cx="822960" cy="822960"/>
          </a:xfrm>
          <a:prstGeom prst="ellipse">
            <a:avLst/>
          </a:prstGeom>
          <a:solidFill>
            <a:srgbClr val="1220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7606" y="654710"/>
            <a:ext cx="427939" cy="42793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41248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screen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All, Drafts, Issued, Cancelled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invoice with its status — draft, unpaid, partly paid, paid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tab: the discount codes/rules invoices can apply, managed separately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78728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571336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things worth understanding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571336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Gapless numbering.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when issued, not drafted — never a hole in the sequence.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cannot be edited.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and re-issue instead — that's what makes the books defensible.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are tax-inclusive by default; discounts apply per line.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EVERY DAY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EVERY DAY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Attendance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Check-ins, and the front desk's home screen.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0820095" y="457200"/>
            <a:ext cx="822960" cy="822960"/>
          </a:xfrm>
          <a:prstGeom prst="ellipse">
            <a:avLst/>
          </a:prstGeom>
          <a:solidFill>
            <a:srgbClr val="1220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7606" y="654710"/>
            <a:ext cx="427939" cy="42793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41248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somebody in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Check in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2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name or phone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3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member — twice never creates a second visit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78728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571336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counter prompt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571336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note appears sometimes — for you, not the member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“Back after a break,” “Due a restock,” “First ever visit”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check-ins show nothing — deliberately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anything about money owed here — that's a private conversation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EVERY DAY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20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606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UP &amp; RUNNING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49040"/>
            <a:ext cx="9265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Configuration, reporting, and multi-branch operations.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SETTING 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group timetable.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0820095" y="457200"/>
            <a:ext cx="822960" cy="822960"/>
          </a:xfrm>
          <a:prstGeom prst="ellipse">
            <a:avLst/>
          </a:prstGeom>
          <a:solidFill>
            <a:srgbClr val="1220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7606" y="654710"/>
            <a:ext cx="427939" cy="42793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41248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set up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class type (Yoga, HIIT)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a schedule — day, time, capacity, trainer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 generate individual sessions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78728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571336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session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571336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booked, who's waitlisted, attendance marking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session moves waitlisted members up automatically on a cancellation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are included in membership — no per-class charging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SETTING UP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SETTING 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types and prices. Owner only.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0820095" y="457200"/>
            <a:ext cx="822960" cy="822960"/>
          </a:xfrm>
          <a:prstGeom prst="ellipse">
            <a:avLst/>
          </a:prstGeom>
          <a:solidFill>
            <a:srgbClr val="1220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7606" y="654710"/>
            <a:ext cx="427939" cy="42793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74520"/>
            <a:ext cx="11094415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41248" y="2112264"/>
            <a:ext cx="1050919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screen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2496312"/>
            <a:ext cx="10509199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plan with duration and price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with a name, length in days, and price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drive expiry dates and renewal amounts everywhere else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a price never rewrites past invoices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SETTING UP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SETTING 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the software already computes, gathered under one heading instead of scattered across four screens. No new metric — an information-architecture change.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0820095" y="457200"/>
            <a:ext cx="822960" cy="822960"/>
          </a:xfrm>
          <a:prstGeom prst="ellipse">
            <a:avLst/>
          </a:prstGeom>
          <a:solidFill>
            <a:srgbClr val="1220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7606" y="654710"/>
            <a:ext cx="427939" cy="42793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41248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views, one section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charts: Revenue trend, Member growth, Renewal trend, Payment distribution, Plan distribution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funnel, sources, lost reasons, conversion (also lives inside Leads)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by severity and type, what the scan is finding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did what, per day (Staff Work, kept reachable from More too)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78728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571336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one section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571336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here already existed on other screens — this just gathers it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At Risk for today's work; use Analytics → Business for last month's answer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fifth view appears later, it belongs here too, not a new corner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findable as “Reports” under More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Business charts, plus a per-plan Members/Revenue/Sold table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SETTING UP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SETTING 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 Accounts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can log in. Owner only — separate from Staff Work, which is what they did.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0820095" y="457200"/>
            <a:ext cx="822960" cy="822960"/>
          </a:xfrm>
          <a:prstGeom prst="ellipse">
            <a:avLst/>
          </a:prstGeom>
          <a:solidFill>
            <a:srgbClr val="1220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7606" y="654710"/>
            <a:ext cx="427939" cy="42793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74520"/>
            <a:ext cx="11094415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41248" y="2112264"/>
            <a:ext cx="1050919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screen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2496312"/>
            <a:ext cx="10509199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staff member: name, phone, role (owner or staff)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log in with that phone and the password you set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Deactivate rather than delete when somebody leaves — their record of what they did stays intact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SETTING UP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· SETTING 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 Work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tabs — a record of what happened, plus the day's actual worklists in one place.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0820095" y="457200"/>
            <a:ext cx="822960" cy="822960"/>
          </a:xfrm>
          <a:prstGeom prst="ellipse">
            <a:avLst/>
          </a:prstGeom>
          <a:solidFill>
            <a:srgbClr val="1220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7606" y="654710"/>
            <a:ext cx="427939" cy="42793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41248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tabs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&amp; work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collected, renewals closed, shop sales, invoices raised, per person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already-raised dues vs. the renewal ceiling, day by day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Collections queue, worst first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/ Follow up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activity and the same unattended-follow-up queue from Leads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count opens the rows behind it — which member, which amount, what time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78728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571336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discipline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571336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shown is money handled, not earned — labelled “collected,” never “achieved”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by name, never by count — sorting by count turns it into a leaderboard on every load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see only their own row; an owner sees everyone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inferred — every category is one existing ledger, not a guess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· SETTING UP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· SETTING 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Visitors &amp; Referrals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who came in but isn't a member yet — and the members who brought them.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0820095" y="457200"/>
            <a:ext cx="822960" cy="822960"/>
          </a:xfrm>
          <a:prstGeom prst="ellipse">
            <a:avLst/>
          </a:prstGeom>
          <a:solidFill>
            <a:srgbClr val="1220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7606" y="654710"/>
            <a:ext cx="427939" cy="42793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41248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Walk-ins, trial sessions and tours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who came, why, and what happened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visitor can convert into a member or a lead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78728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571336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571336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who referred whom, and whether it converted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which members are worth thanking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how much of your growth is word of mouth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· SETTING UP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· SETTING 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gyms with more than one location. Skip it if you have one.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0820095" y="457200"/>
            <a:ext cx="822960" cy="822960"/>
          </a:xfrm>
          <a:prstGeom prst="ellipse">
            <a:avLst/>
          </a:prstGeom>
          <a:solidFill>
            <a:srgbClr val="1220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7606" y="654710"/>
            <a:ext cx="427939" cy="42793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41248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branch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members, staff and takings.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between branches here.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78728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571336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here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571336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members, staff and trainers between branches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— monthly revenue and member targets per branch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overview — branches compared, side by side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chain — what's in stock at every branch, and what could move instead of being bought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· SETTING UP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· SETTING 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 Data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members, plans and payments from a spreadsheet or your previous software.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0820095" y="457200"/>
            <a:ext cx="822960" cy="822960"/>
          </a:xfrm>
          <a:prstGeom prst="ellipse">
            <a:avLst/>
          </a:prstGeom>
          <a:solidFill>
            <a:srgbClr val="1220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7606" y="654710"/>
            <a:ext cx="427939" cy="42793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41248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stages — and this matters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— the file is read, every row judged, nothing saved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2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— only the rows that passed are saved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78728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571336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knowing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571336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must be day-first (31/01/2026) — month-first dates are rejected, not guessed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headings match flexibly — “Phone,” “Mobile,” “Contact No” all understood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· SETTING UP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· SETTING 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Trainers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training staff, their specialisations, and their own profile page.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0820095" y="457200"/>
            <a:ext cx="822960" cy="822960"/>
          </a:xfrm>
          <a:prstGeom prst="ellipse">
            <a:avLst/>
          </a:prstGeom>
          <a:solidFill>
            <a:srgbClr val="1220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7606" y="654710"/>
            <a:ext cx="427939" cy="42793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41248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roster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trainer with name, phone and specialisation.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Trainers attach to classes and to PT packages.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78728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571336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trainer's page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571336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delivered, feedback given or received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they currently work with, what they were last paid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and Move to another branch live here, not on the list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are always listed by name — never ranked or scored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· SETTING UP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· SETTING 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Trainer Payouts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mirror of collections — money the gym owes the people who work in it, not money owed to it.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0820095" y="457200"/>
            <a:ext cx="822960" cy="822960"/>
          </a:xfrm>
          <a:prstGeom prst="ellipse">
            <a:avLst/>
          </a:prstGeom>
          <a:solidFill>
            <a:srgbClr val="1220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7606" y="654710"/>
            <a:ext cx="427939" cy="42793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41248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schemes, any combination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amount for a whole calendar month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percentage of PT the gym has actually been paid for, never on packages merely sold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rate per session actually delivered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78728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571336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screen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571336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payout per trainer, per period — salary, commission and session kept apart so “why is this less than last month” has an answer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Adjustments (signed — an advance recovered is negative), with a reason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paid: payment mode and reference number recorded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trainer's own payout history lives on their profile page too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· SETTING UP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· SETTING 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 Training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One-to-one training: packages and appointments.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0820095" y="457200"/>
            <a:ext cx="822960" cy="822960"/>
          </a:xfrm>
          <a:prstGeom prst="ellipse">
            <a:avLst/>
          </a:prstGeom>
          <a:solidFill>
            <a:srgbClr val="1220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7606" y="654710"/>
            <a:ext cx="427939" cy="42793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41248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a package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Member, trainer, number of sessions, price.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invoice can be raised from it in one tap.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78728" y="1874520"/>
            <a:ext cx="5364328" cy="4389120"/>
          </a:xfrm>
          <a:prstGeom prst="roundRect">
            <a:avLst>
              <a:gd name="adj" fmla="val 1667"/>
            </a:avLst>
          </a:prstGeom>
          <a:solidFill>
            <a:srgbClr val="F2F4F8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571336" y="2112264"/>
            <a:ext cx="477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an appointment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571336" y="2496312"/>
            <a:ext cx="4779112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Member, trainer, date and time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deduct as they're used; remaining balance is always visible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to the last couple of sessions? The front desk sees a note at check-in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· SETTING UP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· SETTING 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Feedback, Reports &amp; Recognition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said, what it adds up to, and a private word for the ones going above and beyond.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0820095" y="457200"/>
            <a:ext cx="822960" cy="822960"/>
          </a:xfrm>
          <a:prstGeom prst="ellipse">
            <a:avLst/>
          </a:prstGeom>
          <a:solidFill>
            <a:srgbClr val="1220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7606" y="654710"/>
            <a:ext cx="427939" cy="42793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74520"/>
            <a:ext cx="3454298" cy="4114800"/>
          </a:xfrm>
          <a:prstGeom prst="roundRect">
            <a:avLst>
              <a:gd name="adj" fmla="val 2647"/>
            </a:avLst>
          </a:prstGeom>
          <a:solidFill>
            <a:srgbClr val="F2F4F8"/>
          </a:solidFill>
          <a:ln/>
        </p:spPr>
      </p:sp>
      <p:sp>
        <p:nvSpPr>
          <p:cNvPr id="8" name="Shape 5"/>
          <p:cNvSpPr/>
          <p:nvPr/>
        </p:nvSpPr>
        <p:spPr>
          <a:xfrm>
            <a:off x="868680" y="2194560"/>
            <a:ext cx="685800" cy="685800"/>
          </a:xfrm>
          <a:prstGeom prst="ellipse">
            <a:avLst/>
          </a:prstGeom>
          <a:solidFill>
            <a:srgbClr val="FF5A4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2359152"/>
            <a:ext cx="356616" cy="35661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68680" y="3063240"/>
            <a:ext cx="2814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868680" y="3566160"/>
            <a:ext cx="281421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running note of what a member said and what a trainer observed. Trainers don't log in, so both directions are written by staff.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368698" y="1874520"/>
            <a:ext cx="3454298" cy="4114800"/>
          </a:xfrm>
          <a:prstGeom prst="roundRect">
            <a:avLst>
              <a:gd name="adj" fmla="val 2647"/>
            </a:avLst>
          </a:prstGeom>
          <a:solidFill>
            <a:srgbClr val="F2F4F8"/>
          </a:solidFill>
          <a:ln/>
        </p:spPr>
      </p:sp>
      <p:sp>
        <p:nvSpPr>
          <p:cNvPr id="13" name="Shape 9"/>
          <p:cNvSpPr/>
          <p:nvPr/>
        </p:nvSpPr>
        <p:spPr>
          <a:xfrm>
            <a:off x="4688738" y="2194560"/>
            <a:ext cx="685800" cy="685800"/>
          </a:xfrm>
          <a:prstGeom prst="ellipse">
            <a:avLst/>
          </a:prstGeom>
          <a:solidFill>
            <a:srgbClr val="FF5A4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3330" y="2359152"/>
            <a:ext cx="356616" cy="35661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688738" y="3063240"/>
            <a:ext cx="2814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</a:t>
            </a:r>
            <a:endParaRPr lang="en-US" sz="1800" dirty="0"/>
          </a:p>
        </p:txBody>
      </p:sp>
      <p:sp>
        <p:nvSpPr>
          <p:cNvPr id="16" name="Text 11"/>
          <p:cNvSpPr txBox="1"/>
          <p:nvPr/>
        </p:nvSpPr>
        <p:spPr>
          <a:xfrm>
            <a:off x="4688738" y="3566160"/>
            <a:ext cx="281421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records, read back on both the member's page and the trainer's page: sessions used, feedback, and recent attendance consistency.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8188757" y="1874520"/>
            <a:ext cx="3454298" cy="4114800"/>
          </a:xfrm>
          <a:prstGeom prst="roundRect">
            <a:avLst>
              <a:gd name="adj" fmla="val 2647"/>
            </a:avLst>
          </a:prstGeom>
          <a:solidFill>
            <a:srgbClr val="F2F4F8"/>
          </a:solidFill>
          <a:ln/>
        </p:spPr>
      </p:sp>
      <p:sp>
        <p:nvSpPr>
          <p:cNvPr id="18" name="Shape 13"/>
          <p:cNvSpPr/>
          <p:nvPr/>
        </p:nvSpPr>
        <p:spPr>
          <a:xfrm>
            <a:off x="8508797" y="2194560"/>
            <a:ext cx="685800" cy="685800"/>
          </a:xfrm>
          <a:prstGeom prst="ellipse">
            <a:avLst/>
          </a:prstGeom>
          <a:solidFill>
            <a:srgbClr val="FF5A4E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3389" y="2359152"/>
            <a:ext cx="356616" cy="35661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508797" y="3063240"/>
            <a:ext cx="2814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Recognition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8508797" y="3566160"/>
            <a:ext cx="281421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2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 note when a member deserves a shout-out. Written reason required; citing a signal is optional. Staff-only, never shown to the member.</a:t>
            </a:r>
            <a:endParaRPr lang="en-US" sz="1250" dirty="0"/>
          </a:p>
        </p:txBody>
      </p:sp>
      <p:sp>
        <p:nvSpPr>
          <p:cNvPr id="22" name="Text 16"/>
          <p:cNvSpPr txBox="1"/>
          <p:nvPr/>
        </p:nvSpPr>
        <p:spPr>
          <a:xfrm>
            <a:off x="548640" y="61722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leaderboard. No score, no ranking, no member ever sees it — the same discipline the retention screens hold to.</a:t>
            </a:r>
            <a:endParaRPr lang="en-US" sz="125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· SETTING UP</a:t>
            </a:r>
            <a:endParaRPr lang="en-US" sz="900" dirty="0"/>
          </a:p>
        </p:txBody>
      </p:sp>
      <p:sp>
        <p:nvSpPr>
          <p:cNvPr id="24" name="Text 18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220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STRAIGHT ABOUT THIS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Software Does Not Do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F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Matters more than a longer feature list.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47672"/>
            <a:ext cx="384048" cy="384048"/>
          </a:xfrm>
          <a:prstGeom prst="ellipse">
            <a:avLst/>
          </a:prstGeom>
          <a:solidFill>
            <a:srgbClr val="24345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812" y="2039844"/>
            <a:ext cx="199705" cy="19970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15568" y="1892808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send messages — no automatic SMS, WhatsApp or email. It tells a human who to contact.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514600"/>
            <a:ext cx="384048" cy="384048"/>
          </a:xfrm>
          <a:prstGeom prst="ellipse">
            <a:avLst/>
          </a:prstGeom>
          <a:solidFill>
            <a:srgbClr val="24345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812" y="2606772"/>
            <a:ext cx="199705" cy="19970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15568" y="2459736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charge for classes — classes are included in membership.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3081528"/>
            <a:ext cx="384048" cy="384048"/>
          </a:xfrm>
          <a:prstGeom prst="ellipse">
            <a:avLst/>
          </a:prstGeom>
          <a:solidFill>
            <a:srgbClr val="24345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812" y="3173700"/>
            <a:ext cx="199705" cy="19970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15568" y="3026664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connect to a biometric or turnstile device — check-ins are recorded in the app.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548640" y="3648456"/>
            <a:ext cx="384048" cy="384048"/>
          </a:xfrm>
          <a:prstGeom prst="ellipse">
            <a:avLst/>
          </a:prstGeom>
          <a:solidFill>
            <a:srgbClr val="24345C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812" y="3740628"/>
            <a:ext cx="199705" cy="199705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115568" y="3593592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take online payments from members — it records payments already taken.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548640" y="4215384"/>
            <a:ext cx="384048" cy="384048"/>
          </a:xfrm>
          <a:prstGeom prst="ellipse">
            <a:avLst/>
          </a:prstGeom>
          <a:solidFill>
            <a:srgbClr val="24345C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812" y="4307556"/>
            <a:ext cx="199705" cy="19970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115568" y="4160520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member-facing app — members don't log in, staff do.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548640" y="4782312"/>
            <a:ext cx="384048" cy="384048"/>
          </a:xfrm>
          <a:prstGeom prst="ellipse">
            <a:avLst/>
          </a:prstGeom>
          <a:solidFill>
            <a:srgbClr val="24345C"/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812" y="4874484"/>
            <a:ext cx="199705" cy="199705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115568" y="4727448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predict who will quit or score members — every flag traces back to real visits.</a:t>
            </a:r>
            <a:endParaRPr lang="en-US" sz="1300" dirty="0"/>
          </a:p>
        </p:txBody>
      </p:sp>
      <p:sp>
        <p:nvSpPr>
          <p:cNvPr id="23" name="Shape 15"/>
          <p:cNvSpPr/>
          <p:nvPr/>
        </p:nvSpPr>
        <p:spPr>
          <a:xfrm>
            <a:off x="548640" y="5349240"/>
            <a:ext cx="384048" cy="384048"/>
          </a:xfrm>
          <a:prstGeom prst="ellipse">
            <a:avLst/>
          </a:prstGeom>
          <a:solidFill>
            <a:srgbClr val="24345C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812" y="5441412"/>
            <a:ext cx="199705" cy="199705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1115568" y="5294376"/>
            <a:ext cx="10454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rank or score members, staff, or trainers — recognition is a private reason, never a leaderboard.</a:t>
            </a:r>
            <a:endParaRPr lang="en-US" sz="1300" dirty="0"/>
          </a:p>
        </p:txBody>
      </p:sp>
      <p:sp>
        <p:nvSpPr>
          <p:cNvPr id="26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READ</a:t>
            </a:r>
            <a:endParaRPr lang="en-US" sz="900" dirty="0"/>
          </a:p>
        </p:txBody>
      </p:sp>
      <p:sp>
        <p:nvSpPr>
          <p:cNvPr id="27" name="Text 18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READ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Reference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fastest way from “I want to…” to the right screen.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0820095" y="457200"/>
            <a:ext cx="822960" cy="822960"/>
          </a:xfrm>
          <a:prstGeom prst="ellipse">
            <a:avLst/>
          </a:prstGeom>
          <a:solidFill>
            <a:srgbClr val="1220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7606" y="654710"/>
            <a:ext cx="427939" cy="427939"/>
          </a:xfrm>
          <a:prstGeom prst="rect">
            <a:avLst/>
          </a:prstGeom>
        </p:spPr>
      </p:pic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4415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5973775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want to…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 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03D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5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somebody 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Attendance → Check 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5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 new member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Members → Add Member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5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 a payment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Payments → Collect, or the member's page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5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Renew a membership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Renewals, or member → Renew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5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Raise a GST invoice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Invoices → New, or from a payment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5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who needs a call today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Risk → Run scan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5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 a protein tub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Shop → Sell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5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 a PT session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Training → Book appointment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5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PT feedback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→ Log feedback, or Member → Add feedback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5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Recognize a member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→ Recognize member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5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a trainer's report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Trainers → tap the trainer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5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Bring in my old member list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5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Chase overdue payments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Payments → Collections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5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PT or billing given away unbilled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Money Leaks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5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up or spend a member's wallet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Member's page → Wallet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5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who did what today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Analytics → Staff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C25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revenue and other charts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3D5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Analytics → Business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6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READ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220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00400"/>
            <a:ext cx="5486400" cy="5486400"/>
          </a:xfrm>
          <a:prstGeom prst="ellipse">
            <a:avLst/>
          </a:prstGeom>
          <a:solidFill>
            <a:srgbClr val="1B2C5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737360"/>
            <a:ext cx="822960" cy="822960"/>
          </a:xfrm>
          <a:prstGeom prst="ellipse">
            <a:avLst/>
          </a:prstGeom>
          <a:solidFill>
            <a:srgbClr val="FF5A4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1934870"/>
            <a:ext cx="427939" cy="42793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743200"/>
            <a:ext cx="9692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leave a gym when the habit breaks, not when they decide to quit — and the habit breaks weeks earlier.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34340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what First 90 Days and Routine Has Broken are looking for — both arithmetic on your own check-in records: nothing invented, nothing guessed, every flag traceable to real visits.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25780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5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thing the software cannot do is make the phone call.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Regulars — Complete Software Manual</dc:title>
  <dc:subject>PptxGenJS Presentation</dc:subject>
  <dc:creator>GymCRM</dc:creator>
  <cp:lastModifiedBy>GymCRM</cp:lastModifiedBy>
  <cp:revision>1</cp:revision>
  <dcterms:created xsi:type="dcterms:W3CDTF">2026-09-03T17:08:59Z</dcterms:created>
  <dcterms:modified xsi:type="dcterms:W3CDTF">2026-09-03T17:08:59Z</dcterms:modified>
</cp:coreProperties>
</file>